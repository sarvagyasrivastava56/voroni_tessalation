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de-DE" sz="1200" b="0" i="0" u="none" strike="noStrike">
                <a:solidFill>
                  <a:srgbClr val="1C2B3A"/>
                </a:solidFill>
                <a:latin typeface="Arial"/>
              </a:rPr>
              <a:t>PCIe Bandwidth vs Transfer Size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H2D (MB/s)</c:v>
                </c:pt>
              </c:strCache>
            </c:strRef>
          </c:tx>
          <c:spPr>
            <a:ln w="38100" cap="flat">
              <a:solidFill>
                <a:srgbClr val="0A8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A84FF"/>
              </a:solidFill>
              <a:ln w="9525" cap="flat">
                <a:solidFill>
                  <a:srgbClr val="0A84F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1MB</c:v>
                </c:pt>
                <c:pt idx="1">
                  <c:v>2MB</c:v>
                </c:pt>
                <c:pt idx="2">
                  <c:v>4MB</c:v>
                </c:pt>
                <c:pt idx="3">
                  <c:v>8MB</c:v>
                </c:pt>
                <c:pt idx="4">
                  <c:v>16MB</c:v>
                </c:pt>
                <c:pt idx="5">
                  <c:v>32MB</c:v>
                </c:pt>
                <c:pt idx="6">
                  <c:v>64MB</c:v>
                </c:pt>
                <c:pt idx="7">
                  <c:v>128MB</c:v>
                </c:pt>
                <c:pt idx="8">
                  <c:v>256MB</c:v>
                </c:pt>
                <c:pt idx="9">
                  <c:v>512MB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9793</c:v>
                </c:pt>
                <c:pt idx="1">
                  <c:v>11148</c:v>
                </c:pt>
                <c:pt idx="2">
                  <c:v>12040</c:v>
                </c:pt>
                <c:pt idx="3">
                  <c:v>12484</c:v>
                </c:pt>
                <c:pt idx="4">
                  <c:v>12695</c:v>
                </c:pt>
                <c:pt idx="5">
                  <c:v>12586</c:v>
                </c:pt>
                <c:pt idx="6">
                  <c:v>12675</c:v>
                </c:pt>
                <c:pt idx="7">
                  <c:v>11889</c:v>
                </c:pt>
                <c:pt idx="8">
                  <c:v>11165</c:v>
                </c:pt>
                <c:pt idx="9">
                  <c:v>10628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8EB-4025-BB3A-3DAD6378E7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D2H (MB/s)</c:v>
                </c:pt>
              </c:strCache>
            </c:strRef>
          </c:tx>
          <c:spPr>
            <a:ln w="38100" cap="flat">
              <a:solidFill>
                <a:srgbClr val="00C4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4B4"/>
              </a:solidFill>
              <a:ln w="9525" cap="flat">
                <a:solidFill>
                  <a:srgbClr val="00C4B4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1MB</c:v>
                </c:pt>
                <c:pt idx="1">
                  <c:v>2MB</c:v>
                </c:pt>
                <c:pt idx="2">
                  <c:v>4MB</c:v>
                </c:pt>
                <c:pt idx="3">
                  <c:v>8MB</c:v>
                </c:pt>
                <c:pt idx="4">
                  <c:v>16MB</c:v>
                </c:pt>
                <c:pt idx="5">
                  <c:v>32MB</c:v>
                </c:pt>
                <c:pt idx="6">
                  <c:v>64MB</c:v>
                </c:pt>
                <c:pt idx="7">
                  <c:v>128MB</c:v>
                </c:pt>
                <c:pt idx="8">
                  <c:v>256MB</c:v>
                </c:pt>
                <c:pt idx="9">
                  <c:v>512MB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9897</c:v>
                </c:pt>
                <c:pt idx="1">
                  <c:v>11226</c:v>
                </c:pt>
                <c:pt idx="2">
                  <c:v>11876</c:v>
                </c:pt>
                <c:pt idx="3">
                  <c:v>12305</c:v>
                </c:pt>
                <c:pt idx="4">
                  <c:v>12603</c:v>
                </c:pt>
                <c:pt idx="5">
                  <c:v>12547</c:v>
                </c:pt>
                <c:pt idx="6">
                  <c:v>12588</c:v>
                </c:pt>
                <c:pt idx="7">
                  <c:v>11839</c:v>
                </c:pt>
                <c:pt idx="8">
                  <c:v>11526</c:v>
                </c:pt>
                <c:pt idx="9">
                  <c:v>11122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8EB-4025-BB3A-3DAD6378E7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500"/>
          <c:min val="9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B3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C2B3A"/>
                </a:solidFill>
                <a:latin typeface="Arial"/>
              </a:rPr>
              <a:t>Speedup vs Serial (512×512, 50 iters)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OpenMP (12T)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N=64</c:v>
                </c:pt>
                <c:pt idx="1">
                  <c:v>N=128</c:v>
                </c:pt>
                <c:pt idx="2">
                  <c:v>N=256</c:v>
                </c:pt>
                <c:pt idx="3">
                  <c:v>N=512</c:v>
                </c:pt>
                <c:pt idx="4">
                  <c:v>N=1024</c:v>
                </c:pt>
                <c:pt idx="5">
                  <c:v>N=2048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5.6</c:v>
                </c:pt>
                <c:pt idx="1">
                  <c:v>6.7</c:v>
                </c:pt>
                <c:pt idx="2">
                  <c:v>6.9</c:v>
                </c:pt>
                <c:pt idx="3">
                  <c:v>6.9</c:v>
                </c:pt>
                <c:pt idx="4">
                  <c:v>7.2</c:v>
                </c:pt>
                <c:pt idx="5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B7-4A41-8820-1816481E20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CUDA (JFA)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N=64</c:v>
                </c:pt>
                <c:pt idx="1">
                  <c:v>N=128</c:v>
                </c:pt>
                <c:pt idx="2">
                  <c:v>N=256</c:v>
                </c:pt>
                <c:pt idx="3">
                  <c:v>N=512</c:v>
                </c:pt>
                <c:pt idx="4">
                  <c:v>N=1024</c:v>
                </c:pt>
                <c:pt idx="5">
                  <c:v>N=2048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31.3</c:v>
                </c:pt>
                <c:pt idx="1">
                  <c:v>67.900000000000006</c:v>
                </c:pt>
                <c:pt idx="2">
                  <c:v>131.69999999999999</c:v>
                </c:pt>
                <c:pt idx="3">
                  <c:v>272.89999999999998</c:v>
                </c:pt>
                <c:pt idx="4">
                  <c:v>556.6</c:v>
                </c:pt>
                <c:pt idx="5">
                  <c:v>1054.7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B7-4A41-8820-1816481E20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06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54864" cy="502920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CVT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Jump Flooding Algorithm on NVIDIA Ampere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2331720"/>
            <a:ext cx="6400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Computing (UCS645)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Sarvagya Srivastava  |  Piyush Biswal  |  Krish Bajaj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Saif Nalband  •  DCSE, Thapar Institute  •  May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Centroidal Voronoi Tessellation (CVT)?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Tessellation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a 2D domain into N regions, where each pixel belongs to its nearest generator site.
</a:t>
            </a: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Centroidal Property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site coincides with the density-weighted centroid of its own region.
</a:t>
            </a: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Algorithm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Iteratively: (1) assign pixels → (2) move sites to centroids. Repeat until convergence.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960120"/>
            <a:ext cx="3291840" cy="3840480"/>
          </a:xfrm>
          <a:prstGeom prst="rect">
            <a:avLst/>
          </a:prstGeom>
          <a:solidFill>
            <a:srgbClr val="1A2B4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577840" y="1051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2356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Mesh Generation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23560" y="2148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Stippling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23560" y="2697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Point-Cloud Simplification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2356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Adaptive Physics Sampling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235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Procedural Textures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4754880" cy="1280160"/>
          </a:xfrm>
          <a:prstGeom prst="rect">
            <a:avLst/>
          </a:prstGeom>
          <a:solidFill>
            <a:srgbClr val="E8F4FD"/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85876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s*ᵢ = Σ ρ(p)·p / Σ ρ(p)  for all p in Vᵢ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(density-weighted centroid condition)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Why GPU Acceleration?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06040" cy="6400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88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Complexity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Voronoi assignment is O(P·N). A 1024×1024 grid with 256 sites = 2.68×10⁸ distance checks per iteration.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0604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188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Contention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487168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per-pixel centroid updates via global atomicAdd saturate DRAM bandwidth — a major bottleneck.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60120"/>
            <a:ext cx="26060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1887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🔌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Overhead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487168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over 16 GB/s PCIe 3.0 bus adds latency. Small problems may be faster on CPU than GPU.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Research Gaps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end-to-end GPU CVT benchmark with JFA + density weighting + convergence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2432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crossover effects ignored in prior 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675888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Block-size sensitivity for JFA access patterns not empirically studied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Objectives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15727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JFA on RTX 2050 — reduce O(P·N) → O(P log P)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4414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centroid accumulation to cut atomic traffic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331012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PCIe bandwidth &amp; find GPU crossover point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417880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block sizes {32,64,128,256,512} — find optimal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CUDA Lloyd Iteration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1371600" cy="1463040"/>
          </a:xfrm>
          <a:prstGeom prst="rect">
            <a:avLst/>
          </a:prstGeom>
          <a:solidFill>
            <a:srgbClr val="334155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430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82880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097280"/>
            <a:ext cx="1371600" cy="1463040"/>
          </a:xfrm>
          <a:prstGeom prst="rect">
            <a:avLst/>
          </a:prstGeom>
          <a:solidFill>
            <a:srgbClr val="065A82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1430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K1-K2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JFA Init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182880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097280"/>
            <a:ext cx="1371600" cy="1463040"/>
          </a:xfrm>
          <a:prstGeom prst="rect">
            <a:avLst/>
          </a:prstGeom>
          <a:solidFill>
            <a:srgbClr val="0A84FF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1430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JFA Flood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(log₂ steps)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097280"/>
            <a:ext cx="1371600" cy="1463040"/>
          </a:xfrm>
          <a:prstGeom prst="rect">
            <a:avLst/>
          </a:prstGeom>
          <a:solidFill>
            <a:srgbClr val="00C4B4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1430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(shmem)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1828800"/>
            <a:ext cx="32004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097280"/>
            <a:ext cx="1371600" cy="1463040"/>
          </a:xfrm>
          <a:prstGeom prst="rect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14300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◄── H2D: Density Grid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D2H: Updated Sites ──►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Backends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11880"/>
            <a:ext cx="54864" cy="1234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CPU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" y="4023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brute-force O(P·N) assignment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611880"/>
            <a:ext cx="54864" cy="123444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4023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logical cores, static scheduling, fork-join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611880"/>
            <a:ext cx="54864" cy="123444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GPU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36208" y="4023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JFA + shared-memory centroid accumulation on RTX 2050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Flooding Algorithm (JFA)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
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all N sites for each pixel, JFA propagates the nearest-site label through ping-pong buffers using decreasing strides.
</a:t>
            </a:r>
            <a:r>
              <a:rPr lang="en-US" sz="15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
</a:t>
            </a: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O(P·N)  →  O(P log P)
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of site count N!
</a:t>
            </a:r>
            <a:r>
              <a:rPr lang="en-US" sz="15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Correction Pass
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stride=1 pass corrects small residual errors near Voronoi boundaries.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(1+JFA Variant)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Init: A[p] ← –1 for all pixels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Seed: A[site_i] ← 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For k = log₂(max(W,H))–1 → 0: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560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stride ← 2ᵏ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each pixel p (parallel):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Check 8 neighbours at ±stride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Update A[p] if closer site found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40233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Swap ping-pong buffers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4389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Final pass: stride = 1  (+1 fix)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4663440"/>
            <a:ext cx="4114800" cy="365760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Centroid Accumulation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JFA, every pixel must add its contribution to its site's centroid accumulator.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global atomicAdd for each pixel = millions of slow DRAM operations.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Solution: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accumulation in on-chip shared memory first, then flush once per block to global memory.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3749040"/>
            <a:ext cx="54864" cy="105156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858768"/>
            <a:ext cx="17830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4379976"/>
            <a:ext cx="178308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global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calls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3749040"/>
            <a:ext cx="19659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3749040"/>
            <a:ext cx="54864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858768"/>
            <a:ext cx="17830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06040" y="4379976"/>
            <a:ext cx="178308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(on-chip vs DRAM)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Block-Local Staging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Allocate shared arrays per site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1755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sh_wx[N], sh_wy[N], sh_w[N] → shmem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2340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Each thread updates shared mem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atomicAdd(&amp;sh_wx[site], w*px);  // fast!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atomicAdd(&amp;sh_wy[site], w*py);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218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atomicAdd(&amp;sh_w[site], w);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54880" y="35112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__syncthreads();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38039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40965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One flush per (block, site)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4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atomicAdd(&amp;global_wx[k], sh_wx[k]);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4681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↑ blockDim.x × fewer global ops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4023360" cy="2286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GPU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NVIDIA RTX 2050 (GA107, sm 86)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GPU Mem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4 GB GDDR6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CUDA Cores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2048 (16 SMs × 128)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CPU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Intel i5-12500H (12 cores)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CUDA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Toolkit 13.1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OS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434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Windows 11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987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Workloads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4663440" y="1417320"/>
            <a:ext cx="54864" cy="74980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73168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Sweep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73168" y="17556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512×512, N=64→2048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(Serial vs OMP vs CUDA)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224028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240280"/>
            <a:ext cx="54864" cy="749808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3168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Crossover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73168" y="25786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N=256 fixed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128²→1024²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3063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3063240"/>
            <a:ext cx="54864" cy="7498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73168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 Sweep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73168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1024×1024, N=256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Block: {32,64,128,256,512}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63440" y="388620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3886200"/>
            <a:ext cx="54864" cy="7498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Bandwidth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73168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 → 512 MB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memory, 5 reps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1: PCIe Bandwidth Measurement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91440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760720" y="1417320"/>
            <a:ext cx="3108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417320"/>
            <a:ext cx="54864" cy="109728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550963"/>
            <a:ext cx="2711548" cy="4747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~12,700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97880" y="2075688"/>
            <a:ext cx="29260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bandwidth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(16–64 MB range)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2606040"/>
            <a:ext cx="3108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606040"/>
            <a:ext cx="54864" cy="109728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71576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≈Symmetric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5897880" y="3264408"/>
            <a:ext cx="29260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H2D ≈ D2H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(pinned memory)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0720" y="3794760"/>
            <a:ext cx="3108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794760"/>
            <a:ext cx="54864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90448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897880" y="4453128"/>
            <a:ext cx="292608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for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non-pinned memory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2: Serial vs OpenMP vs CUDA Speedup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86868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868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760720" y="1325880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3716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CUDA reaches 1,054× at N=2048 — scales with N!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240280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22860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CUDA time stays flat ~60ms regardless of N (JFA is O(P log P))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3154680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32004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OpenMP caps at ~7× (Amdahl bottleneck from serial centroid update)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4069080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411480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CUDA crossover at N&lt;64 — PCIe latency dominates below this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3: Optimal Block Size &amp; PCIe Crossover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Config Sweep (1024×1024)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89888"/>
          <a:ext cx="411480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Block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 (ms)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Occupancy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C2B3A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</a:rPr>
                        <a:t>0.152 ⭐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33%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64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0.166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67%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128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0.162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256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0.159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512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0.159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91840"/>
            <a:ext cx="4114800" cy="1508760"/>
          </a:xfrm>
          <a:prstGeom prst="rect">
            <a:avLst/>
          </a:prstGeom>
          <a:solidFill>
            <a:srgbClr val="FFFBEB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64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 B=32 wins despite low occupancy?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7307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JFA is memory-bandwidth bound. One-warp blocks (B=32) maximize L1 cache utilization for stride-k neighbour reads. Higher occupancy ≠ higher performance for memory-bound kernels.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Grid-Size PCIe Crossover (N=256)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89888"/>
          <a:ext cx="4114800" cy="2286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Grid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Serial (ms)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CUDA (ms)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lang="en-US" sz="110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128×128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484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22.3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21.7×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256×256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2073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25.7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80.8×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512×512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8405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59.8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140.5×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768×768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18743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113.8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164.7×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1024×1024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32407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206.5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C2B3A"/>
                          </a:solidFill>
                        </a:rPr>
                        <a:t>156.9×</a:t>
                      </a:r>
                      <a:endParaRPr lang="en-US" sz="1050" dirty="0"/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8"/>
          <p:cNvSpPr/>
          <p:nvPr/>
        </p:nvSpPr>
        <p:spPr>
          <a:xfrm>
            <a:off x="4754880" y="3749040"/>
            <a:ext cx="4114800" cy="105156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92040" y="38404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beats serial at every tested grid size!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128×128 (16K pixels) shows 21.7× speedup.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crossover is below 128×128 for N=256.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170432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0A84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9875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beats hardware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3533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JFA (O(P log P)) independent of N gives 1,054× speedup at N=2048 while serial scales linearly.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206240" cy="1170432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0C4B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2677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staging works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6334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×32 fewer global atomic calls; on-chip ops ~100× faster than DRAM atomics.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206240" cy="1170432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547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OpenMP: moderate gain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9136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~7× speedup on 12 cores (58% efficiency) limited by serial centroid-update fraction (Amdahl).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4206240" cy="1170432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188720"/>
            <a:ext cx="384048" cy="38404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04688" y="9875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B=32 is optimal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4688" y="13533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33% occupancy, maximizes L1 cache use for strided JFA pattern (+5% over B=256).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194560"/>
            <a:ext cx="4206240" cy="1170432"/>
          </a:xfrm>
          <a:prstGeom prst="rect">
            <a:avLst/>
          </a:prstGeom>
          <a:solidFill>
            <a:srgbClr val="111827"/>
          </a:solidFill>
          <a:ln/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246888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04688" y="22677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overhead is negligible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04688" y="26334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wins at every practical size. Crossover below 128×128 pixels (N=256).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81489" y="3474720"/>
            <a:ext cx="4206240" cy="11704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0" name="Text 28"/>
          <p:cNvSpPr/>
          <p:nvPr/>
        </p:nvSpPr>
        <p:spPr>
          <a:xfrm>
            <a:off x="5018649" y="3573897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01768" y="3903081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Kernels 3–5 into one pass  •  Multi-GPU via NCCL  •  Exact GPU Voronoi construction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84FF"/>
          </a:solidFill>
          <a:ln w="12700">
            <a:solidFill>
              <a:srgbClr val="0A8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029200"/>
            <a:ext cx="82296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DCSE, Thapar Institute of Engineering and Technology  •  May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1283</Words>
  <Application>Microsoft Office PowerPoint</Application>
  <PresentationFormat>On-screen Show (16:9)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GPU-Accelerated CVT using JFA on NVIDIA Ampere</dc:title>
  <dc:subject>PptxGenJS Presentation</dc:subject>
  <dc:creator>PptxGenJS</dc:creator>
  <cp:lastModifiedBy>Piyush Biswal</cp:lastModifiedBy>
  <cp:revision>2</cp:revision>
  <dcterms:created xsi:type="dcterms:W3CDTF">2026-04-28T04:52:04Z</dcterms:created>
  <dcterms:modified xsi:type="dcterms:W3CDTF">2026-04-30T22:07:38Z</dcterms:modified>
</cp:coreProperties>
</file>